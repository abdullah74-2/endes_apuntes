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99" r:id="rId8"/>
    <p:sldId id="268" r:id="rId9"/>
    <p:sldId id="269" r:id="rId10"/>
    <p:sldId id="270" r:id="rId11"/>
    <p:sldId id="303" r:id="rId12"/>
    <p:sldId id="304" r:id="rId13"/>
    <p:sldId id="271" r:id="rId14"/>
    <p:sldId id="305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8" r:id="rId31"/>
    <p:sldId id="289" r:id="rId32"/>
    <p:sldId id="290" r:id="rId33"/>
    <p:sldId id="291" r:id="rId34"/>
    <p:sldId id="292" r:id="rId35"/>
    <p:sldId id="293" r:id="rId36"/>
    <p:sldId id="300" r:id="rId37"/>
    <p:sldId id="301" r:id="rId38"/>
    <p:sldId id="294" r:id="rId39"/>
    <p:sldId id="295" r:id="rId40"/>
    <p:sldId id="296" r:id="rId41"/>
    <p:sldId id="297" r:id="rId42"/>
    <p:sldId id="298" r:id="rId43"/>
    <p:sldId id="302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70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56FD-CADD-4BBF-8EB9-526D37D8EC6F}" type="datetimeFigureOut">
              <a:rPr lang="es-ES" smtClean="0"/>
              <a:t>08/09/2025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003D7-C870-4902-88F4-DA5B6C184B19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582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56FD-CADD-4BBF-8EB9-526D37D8EC6F}" type="datetimeFigureOut">
              <a:rPr lang="es-ES" smtClean="0"/>
              <a:t>08/09/2025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003D7-C870-4902-88F4-DA5B6C184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6018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56FD-CADD-4BBF-8EB9-526D37D8EC6F}" type="datetimeFigureOut">
              <a:rPr lang="es-ES" smtClean="0"/>
              <a:t>08/09/2025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003D7-C870-4902-88F4-DA5B6C184B19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949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56FD-CADD-4BBF-8EB9-526D37D8EC6F}" type="datetimeFigureOut">
              <a:rPr lang="es-ES" smtClean="0"/>
              <a:t>08/09/2025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003D7-C870-4902-88F4-DA5B6C184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6406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56FD-CADD-4BBF-8EB9-526D37D8EC6F}" type="datetimeFigureOut">
              <a:rPr lang="es-ES" smtClean="0"/>
              <a:t>08/09/2025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003D7-C870-4902-88F4-DA5B6C184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8584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56FD-CADD-4BBF-8EB9-526D37D8EC6F}" type="datetimeFigureOut">
              <a:rPr lang="es-ES" smtClean="0"/>
              <a:t>08/09/2025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003D7-C870-4902-88F4-DA5B6C184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6879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56FD-CADD-4BBF-8EB9-526D37D8EC6F}" type="datetimeFigureOut">
              <a:rPr lang="es-ES" smtClean="0"/>
              <a:t>08/09/2025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003D7-C870-4902-88F4-DA5B6C184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8060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CAF56FD-CADD-4BBF-8EB9-526D37D8EC6F}" type="datetimeFigureOut">
              <a:rPr lang="es-ES" smtClean="0"/>
              <a:t>08/09/2025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2003D7-C870-4902-88F4-DA5B6C184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6236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56FD-CADD-4BBF-8EB9-526D37D8EC6F}" type="datetimeFigureOut">
              <a:rPr lang="es-ES" smtClean="0"/>
              <a:t>08/09/2025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003D7-C870-4902-88F4-DA5B6C184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3973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56FD-CADD-4BBF-8EB9-526D37D8EC6F}" type="datetimeFigureOut">
              <a:rPr lang="es-ES" smtClean="0"/>
              <a:t>08/09/2025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003D7-C870-4902-88F4-DA5B6C184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8018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F56FD-CADD-4BBF-8EB9-526D37D8EC6F}" type="datetimeFigureOut">
              <a:rPr lang="es-ES" smtClean="0"/>
              <a:t>08/09/2025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003D7-C870-4902-88F4-DA5B6C184B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00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CAF56FD-CADD-4BBF-8EB9-526D37D8EC6F}" type="datetimeFigureOut">
              <a:rPr lang="es-ES" smtClean="0"/>
              <a:t>08/09/2025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E2003D7-C870-4902-88F4-DA5B6C184B19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23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2CC53-B9BD-EA63-6A67-4CB85D854D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Aplicación de las estructuras de control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2D22DC-8904-79CA-5D1C-884A914D78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465000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1BD70-3BE7-E450-EAA8-0994AFAB7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Sentencias de control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BA3613-506C-3CE5-E97E-7CF585D2E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Hasta ahora, cuando realizábamos la ejecución de un programa, ésta ha sido </a:t>
            </a:r>
            <a:r>
              <a:rPr lang="es-ES" sz="1800" b="1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secuencial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Las sentencias se han ejecutado una detrás de otra hasta que el programa concluía.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Muchas veces es necesario alterar este flujo secuencial. Esto se consigue utilizando sentencias de control dentro de los programas.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Las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sentencias o </a:t>
            </a:r>
            <a:r>
              <a:rPr lang="es-ES" sz="1800" b="1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instrucciones de control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permiten: </a:t>
            </a:r>
            <a:endParaRPr lang="es-E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realizar uno u otro conjunto de instrucciones si se cumple una determinada condición → instrucciones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condicionales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s-ES" sz="1800" b="0" i="1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if</a:t>
            </a:r>
            <a:r>
              <a:rPr lang="es-ES" sz="18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switch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).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ejecutar un conjunto de instrucciones repetidamente un número determinado o indeterminado de veces → sentencias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repetitivas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(bucles – </a:t>
            </a:r>
            <a:r>
              <a:rPr lang="es-ES" sz="1800" b="0" i="1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while</a:t>
            </a:r>
            <a:r>
              <a:rPr lang="es-ES" sz="18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do … </a:t>
            </a:r>
            <a:r>
              <a:rPr lang="es-ES" sz="1800" b="0" i="1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while</a:t>
            </a:r>
            <a:r>
              <a:rPr lang="es-ES" sz="1800" b="0" i="1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s-ES" sz="1800" b="0" i="1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for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).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5186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24375-56C1-A208-59AB-75C2432CF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sentencia condicional </a:t>
            </a:r>
            <a:r>
              <a:rPr lang="es-ES" dirty="0" err="1"/>
              <a:t>if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9839F22-53A6-AA7B-FB7D-749B004343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3919" y="1846263"/>
            <a:ext cx="5584488" cy="4022725"/>
          </a:xfrm>
        </p:spPr>
      </p:pic>
    </p:spTree>
    <p:extLst>
      <p:ext uri="{BB962C8B-B14F-4D97-AF65-F5344CB8AC3E}">
        <p14:creationId xmlns:p14="http://schemas.microsoft.com/office/powerpoint/2010/main" val="939068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9C3EA-917B-4C4A-E420-559C6CB61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Consideraciones sobre la sentencia </a:t>
            </a:r>
            <a:r>
              <a:rPr lang="es-ES" dirty="0" err="1"/>
              <a:t>if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614575-1BF6-05E9-70BB-5E5CE904D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endParaRPr lang="es-ES" sz="1800" b="0" i="0" u="none" strike="noStrike" baseline="0" dirty="0">
              <a:solidFill>
                <a:srgbClr val="000000"/>
              </a:solidFill>
              <a:latin typeface="Symbol" panose="05050102010706020507" pitchFamily="18" charset="2"/>
            </a:endParaRPr>
          </a:p>
          <a:p>
            <a:pPr marL="0" indent="0">
              <a:buNone/>
            </a:pP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• Si el conjunto de acciones a ejecutar es una única sentencia puede omitirse las { } del bloque.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Acción/es pueden ser cualquier instrucción válida incluso otra sentencia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if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Podemos construir en este último caso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if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anidados.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Cuando hay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if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anidados, la parte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else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siempre se corresponde con el último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if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abierto dentro del mismo bloque.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0272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79793-6608-6F19-C2B1-CF94D8A7B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</a:t>
            </a:r>
            <a:r>
              <a:rPr lang="es-ES" dirty="0" err="1"/>
              <a:t>if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DF145BF-7E98-AA14-C8CD-7478493981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4357" y="2231898"/>
            <a:ext cx="6667500" cy="1733550"/>
          </a:xfrm>
        </p:spPr>
      </p:pic>
    </p:spTree>
    <p:extLst>
      <p:ext uri="{BB962C8B-B14F-4D97-AF65-F5344CB8AC3E}">
        <p14:creationId xmlns:p14="http://schemas.microsoft.com/office/powerpoint/2010/main" val="580946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55212-AB9A-40AF-D7EA-3791DEA7B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</a:t>
            </a:r>
            <a:r>
              <a:rPr lang="es-ES" dirty="0" err="1"/>
              <a:t>if-else</a:t>
            </a:r>
            <a:r>
              <a:rPr lang="es-ES" dirty="0"/>
              <a:t> anidados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1544B46-6DB0-4AE7-96A6-A3402C44A8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6160" y="2066925"/>
            <a:ext cx="6562725" cy="2724150"/>
          </a:xfrm>
        </p:spPr>
      </p:pic>
    </p:spTree>
    <p:extLst>
      <p:ext uri="{BB962C8B-B14F-4D97-AF65-F5344CB8AC3E}">
        <p14:creationId xmlns:p14="http://schemas.microsoft.com/office/powerpoint/2010/main" val="2594778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F82CF-9C29-4E8E-B580-694A63DC1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Realizar Ejercicio 1 IF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F4AD7E-8877-D301-2817-FBBC61B37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6977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85A3B9-1EB4-4CE3-C2BF-A812F98C2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 switch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F303C5-D869-2D77-0D70-DD41BD514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s-ES" sz="1800" b="0" i="0" u="none" strike="noStrike" baseline="0" dirty="0">
                <a:latin typeface="Arial" panose="020B0604020202020204" pitchFamily="34" charset="0"/>
              </a:rPr>
              <a:t>Es la alternativa a la estructura </a:t>
            </a:r>
            <a:r>
              <a:rPr lang="es-ES" sz="1800" b="0" i="0" u="none" strike="noStrike" baseline="0" dirty="0" err="1">
                <a:latin typeface="Arial" panose="020B0604020202020204" pitchFamily="34" charset="0"/>
              </a:rPr>
              <a:t>if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 anidada, cuando la expresión puede tomar distintos valores. Nos permite por tanto, realizar una selección múltiple.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2356FB-7707-D5D2-E482-E36CC02F7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302" y="2490576"/>
            <a:ext cx="6332799" cy="294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42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24DB0-CE29-40B4-4C03-07DBED175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Consideraciones Switch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697BB9-5A9B-7522-4523-DA4BFF2A2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La sentencia switch consta de una expresión que se evalúa a </a:t>
            </a:r>
            <a:r>
              <a:rPr lang="es-ES" sz="1700" b="1" dirty="0">
                <a:solidFill>
                  <a:srgbClr val="000000"/>
                </a:solidFill>
                <a:latin typeface="Calibri" panose="020F0502020204030204" pitchFamily="34" charset="0"/>
              </a:rPr>
              <a:t>un valor entero </a:t>
            </a: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s-ES" sz="1700" dirty="0" err="1">
                <a:solidFill>
                  <a:srgbClr val="000000"/>
                </a:solidFill>
                <a:latin typeface="Calibri" panose="020F0502020204030204" pitchFamily="34" charset="0"/>
              </a:rPr>
              <a:t>int</a:t>
            </a: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, byte, short) o </a:t>
            </a:r>
            <a:r>
              <a:rPr lang="es-ES" sz="17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char</a:t>
            </a: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 . (Una de las mejoras que introdujo la versión Java 7 fue la posibilidad de utilizar expresiones </a:t>
            </a:r>
            <a:r>
              <a:rPr lang="es-ES" sz="17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String</a:t>
            </a: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 en esta sentencia. ) 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Incluye una serie de etiquetas case </a:t>
            </a:r>
            <a:r>
              <a:rPr lang="es-ES" sz="1700" b="1" dirty="0">
                <a:solidFill>
                  <a:srgbClr val="000000"/>
                </a:solidFill>
                <a:latin typeface="Calibri" panose="020F0502020204030204" pitchFamily="34" charset="0"/>
              </a:rPr>
              <a:t>con un valor constante</a:t>
            </a: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 (cada uno de los valores posibles que se pueden obtener al evaluar la expresión). 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La expresión se evalúa y </a:t>
            </a:r>
            <a:r>
              <a:rPr lang="es-ES" sz="1700" b="1" dirty="0">
                <a:solidFill>
                  <a:srgbClr val="000000"/>
                </a:solidFill>
                <a:latin typeface="Calibri" panose="020F0502020204030204" pitchFamily="34" charset="0"/>
              </a:rPr>
              <a:t>se ejecutan las sentencias asociadas a la etiqueta case que corresponde con el valor </a:t>
            </a: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obtenido.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La cláusula case puede llevar asociadas una o varias sentencias, </a:t>
            </a:r>
            <a:r>
              <a:rPr lang="es-ES" sz="1700" b="1" dirty="0">
                <a:solidFill>
                  <a:srgbClr val="000000"/>
                </a:solidFill>
                <a:latin typeface="Calibri" panose="020F0502020204030204" pitchFamily="34" charset="0"/>
              </a:rPr>
              <a:t>sin necesidad de delimitar dichos bloques por medio de llaves</a:t>
            </a: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Si se omite un break en alguno de los case puestos, </a:t>
            </a:r>
            <a:r>
              <a:rPr lang="es-ES" sz="1700" b="1" dirty="0">
                <a:solidFill>
                  <a:srgbClr val="000000"/>
                </a:solidFill>
                <a:latin typeface="Calibri" panose="020F0502020204030204" pitchFamily="34" charset="0"/>
              </a:rPr>
              <a:t>se ejecutarán el resto de los case, hasta encontrar un break</a:t>
            </a: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La sentencia </a:t>
            </a:r>
            <a:r>
              <a:rPr lang="es-ES" sz="1700" b="1" dirty="0">
                <a:solidFill>
                  <a:srgbClr val="000000"/>
                </a:solidFill>
                <a:latin typeface="Calibri" panose="020F0502020204030204" pitchFamily="34" charset="0"/>
              </a:rPr>
              <a:t>break finaliza la ejecución </a:t>
            </a: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de la instrucción switch. 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Si ningún valor de las etiquetas case se corresponde con el resultado de la expresión, se ejecutan las sentencias correspondientes a la parte </a:t>
            </a:r>
            <a:r>
              <a:rPr lang="es-ES" sz="1700" b="1" dirty="0">
                <a:solidFill>
                  <a:srgbClr val="000000"/>
                </a:solidFill>
                <a:latin typeface="Calibri" panose="020F0502020204030204" pitchFamily="34" charset="0"/>
              </a:rPr>
              <a:t>default</a:t>
            </a: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. Esta parte es </a:t>
            </a:r>
            <a:r>
              <a:rPr lang="es-ES" sz="1700" b="1" dirty="0">
                <a:solidFill>
                  <a:srgbClr val="000000"/>
                </a:solidFill>
                <a:latin typeface="Calibri" panose="020F0502020204030204" pitchFamily="34" charset="0"/>
              </a:rPr>
              <a:t>opcional</a:t>
            </a:r>
            <a:r>
              <a:rPr lang="es-ES" sz="170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6425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C3BD6-EB8D-FAF2-6E10-138093FF2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Switch utilizando </a:t>
            </a:r>
            <a:r>
              <a:rPr lang="es-ES" dirty="0" err="1"/>
              <a:t>Strings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ED77C4C-9F2A-EC77-9CB0-D0B998153A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11" y="1971865"/>
            <a:ext cx="7192000" cy="2914269"/>
          </a:xfrm>
        </p:spPr>
      </p:pic>
    </p:spTree>
    <p:extLst>
      <p:ext uri="{BB962C8B-B14F-4D97-AF65-F5344CB8AC3E}">
        <p14:creationId xmlns:p14="http://schemas.microsoft.com/office/powerpoint/2010/main" val="1726220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444663-193F-9682-EB61-66B0B72EE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2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65ADA8-2367-ADB8-C2A3-63D6FB63D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4396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3B6FBC-55CE-1268-0D5A-C784100C1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3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EA71A6-57E7-D63F-5480-0DE8274C3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8404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A6F06-5F6B-FDF2-D432-C2F080811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4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36B17C-9074-092A-7AFF-F3C964BA5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3543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E52BC-8EEE-7E68-5E58-19DCCAE13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5 Switch – Lectura de teclado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605132-2379-16CF-7748-7C9EDC383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60554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0FD93-9E6A-6C2F-488C-786D9C977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Estructuras repetitivas o de interacción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2E8BA2-5F33-4781-CB23-F15BE691F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s-ES" sz="1800" b="0" i="0" u="none" strike="noStrike" baseline="0" dirty="0">
                <a:latin typeface="Calibri" panose="020F0502020204030204" pitchFamily="34" charset="0"/>
              </a:rPr>
              <a:t>N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os permiten repetir una secuencia de instrucciones un número determinado de veces, dependiendo del resultado de una condición.</a:t>
            </a:r>
          </a:p>
          <a:p>
            <a:pPr algn="l"/>
            <a:r>
              <a:rPr lang="es-ES" sz="1800" b="0" i="0" u="none" strike="noStrike" baseline="0" dirty="0">
                <a:latin typeface="Arial" panose="020B0604020202020204" pitchFamily="34" charset="0"/>
              </a:rPr>
              <a:t>Las instrucciones que se repiten un número determinado de veces, constituyen lo que denominamos bucle.</a:t>
            </a:r>
          </a:p>
          <a:p>
            <a:pPr algn="l"/>
            <a:r>
              <a:rPr lang="es-ES" sz="1800" b="0" i="0" u="none" strike="noStrike" baseline="0" dirty="0">
                <a:latin typeface="Arial" panose="020B0604020202020204" pitchFamily="34" charset="0"/>
              </a:rPr>
              <a:t>Existen cuatro tipos de estructuras repetitivas:</a:t>
            </a:r>
          </a:p>
          <a:p>
            <a:pPr algn="l"/>
            <a:r>
              <a:rPr lang="es-ES" sz="1800" b="0" i="0" u="none" strike="noStrike" baseline="0" dirty="0">
                <a:latin typeface="Symbol" panose="05050102010706020507" pitchFamily="18" charset="2"/>
              </a:rPr>
              <a:t>· 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Bucle </a:t>
            </a:r>
            <a:r>
              <a:rPr lang="es-ES" sz="1800" b="0" i="0" u="none" strike="noStrike" baseline="0" dirty="0" err="1">
                <a:latin typeface="Arial" panose="020B0604020202020204" pitchFamily="34" charset="0"/>
              </a:rPr>
              <a:t>while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 (repite mientras)</a:t>
            </a:r>
          </a:p>
          <a:p>
            <a:pPr algn="l"/>
            <a:r>
              <a:rPr lang="en-US" sz="1800" b="0" i="0" u="none" strike="noStrike" baseline="0" dirty="0">
                <a:latin typeface="Symbol" panose="05050102010706020507" pitchFamily="18" charset="2"/>
              </a:rPr>
              <a:t>· </a:t>
            </a:r>
            <a:r>
              <a:rPr lang="en-US" sz="1800" b="0" i="0" u="none" strike="noStrike" baseline="0" dirty="0" err="1">
                <a:latin typeface="Arial" panose="020B0604020202020204" pitchFamily="34" charset="0"/>
              </a:rPr>
              <a:t>Bucle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 do while (</a:t>
            </a:r>
            <a:r>
              <a:rPr lang="en-US" sz="1800" b="0" i="0" u="none" strike="noStrike" baseline="0" dirty="0" err="1">
                <a:latin typeface="Arial" panose="020B0604020202020204" pitchFamily="34" charset="0"/>
              </a:rPr>
              <a:t>repite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 hasta)</a:t>
            </a:r>
          </a:p>
          <a:p>
            <a:pPr algn="l"/>
            <a:r>
              <a:rPr lang="es-ES" sz="1800" b="0" i="0" u="none" strike="noStrike" baseline="0" dirty="0">
                <a:latin typeface="Symbol" panose="05050102010706020507" pitchFamily="18" charset="2"/>
              </a:rPr>
              <a:t>· 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Bucle </a:t>
            </a:r>
            <a:r>
              <a:rPr lang="es-ES" sz="1800" b="0" i="0" u="none" strike="noStrike" baseline="0" dirty="0" err="1">
                <a:latin typeface="Arial" panose="020B0604020202020204" pitchFamily="34" charset="0"/>
              </a:rPr>
              <a:t>for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 (repite para)</a:t>
            </a:r>
          </a:p>
        </p:txBody>
      </p:sp>
    </p:spTree>
    <p:extLst>
      <p:ext uri="{BB962C8B-B14F-4D97-AF65-F5344CB8AC3E}">
        <p14:creationId xmlns:p14="http://schemas.microsoft.com/office/powerpoint/2010/main" val="715619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3F582-151A-0522-207C-37C9D0E3E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sentencia </a:t>
            </a:r>
            <a:r>
              <a:rPr lang="es-ES" dirty="0" err="1"/>
              <a:t>while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F93CB5-870D-C22F-A544-B31F06326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900594"/>
            <a:ext cx="10570464" cy="2440094"/>
          </a:xfrm>
        </p:spPr>
        <p:txBody>
          <a:bodyPr>
            <a:normAutofit fontScale="92500" lnSpcReduction="20000"/>
          </a:bodyPr>
          <a:lstStyle/>
          <a:p>
            <a:pPr algn="l"/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 L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 condición (expresión booleana) se evalúa. Si es cierta se ejecutan las instrucciones incluidas en el cuerpo del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while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y se vuelve a evaluar la condición. Este proceso se repite hasta que la condición es falsa. En este caso el bucle termina.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L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 condición se evalúa siempre en primer lugar. Esto quiere decir que el bucle puede que no se ejecute nunca si la condición se evalúa a false la primera vez.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E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 conjunto de acciones (sentencias) se repiten un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nº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determinado o indeterminado de veces.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S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iempre tiene que haber alguna sentencia dentro del cuerpo del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while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que modifique la condición para que el bucle pueda terminar (y no se generen bucles infinitos). </a:t>
            </a:r>
          </a:p>
          <a:p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B244F5-34B0-2BD7-9260-FD76335B5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164" y="1737360"/>
            <a:ext cx="543877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700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5B056-959B-3269-E009-045852100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8DE037D-DAA6-FE8C-CE7F-D24A6C3CD6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5902" y="1910271"/>
            <a:ext cx="5720427" cy="4399089"/>
          </a:xfrm>
        </p:spPr>
      </p:pic>
    </p:spTree>
    <p:extLst>
      <p:ext uri="{BB962C8B-B14F-4D97-AF65-F5344CB8AC3E}">
        <p14:creationId xmlns:p14="http://schemas.microsoft.com/office/powerpoint/2010/main" val="3252478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77E44-59DA-A538-A8CE-B27284FDE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Ejemplos(II)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CCD4316-2012-AFA9-D0D4-EFF2076C7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4907" y="1737360"/>
            <a:ext cx="6734175" cy="2343150"/>
          </a:xfrm>
        </p:spPr>
      </p:pic>
    </p:spTree>
    <p:extLst>
      <p:ext uri="{BB962C8B-B14F-4D97-AF65-F5344CB8AC3E}">
        <p14:creationId xmlns:p14="http://schemas.microsoft.com/office/powerpoint/2010/main" val="1719528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DBE49-FA6A-F0A8-0F22-3D1261B39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 utilizadas en ejemplos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6E4A93-CED4-3017-78DF-B3314B6DA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Un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contador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es una variable cuyo valor se incrementa en una cantidad fija, positiva o negativa. Se utiliza en los siguientes casos: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a) Para contabilizar el número de veces que es necesario realizar una acción (variable de control de un bucle). Ej. tiradas++; contador--;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b) Para contar un suceso particular (asociado o no a un bucle). Ej. caras++; cruz++; </a:t>
            </a:r>
          </a:p>
          <a:p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Un </a:t>
            </a:r>
            <a:r>
              <a:rPr lang="es-ES" sz="1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acumulador 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es una variable cuyo valor se incrementa sucesivas veces en cantidades variables. Se utiliza: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a) Para obtener un total acumulado de un conjunto de cantidades siendo preciso, en este caso inicializar el acumulador a 0. Ej. suma = suma + contador;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b) Para obtener un total como producto de distintas cantidades, inicializándose entonces a 1. Ej. producto = producto * contador;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51357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97D35-3B89-947B-91FF-B8F508F88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 conmutador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638A48-5B20-7855-CE44-475467446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E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s una variable que toma dos valores exclusivos, por ejemplo, true / false, y que se utiliza para: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a) hacer que se ejecuten alternativamente dos grupos de sentencias dentro de un bucle. 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b) recordar la ocurrencia o no de un determinado suceso o para salir de un bucle. </a:t>
            </a:r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753793B-1D3C-6351-C011-17E757200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425" y="3066478"/>
            <a:ext cx="691515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8592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F033D-70A7-3B63-6F9E-84DBEBBA8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6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718E1A-4CE3-D2E5-5A0B-91BDF858F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7347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E5508-09A1-2B42-2CDA-AECB2B0E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7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74953E-26E3-F5D0-89B8-987A8B372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s-ES" sz="1800" b="0" i="0" u="none" strike="noStrike" baseline="0" dirty="0">
              <a:solidFill>
                <a:srgbClr val="000000"/>
              </a:solidFill>
            </a:endParaRPr>
          </a:p>
          <a:p>
            <a:endParaRPr lang="es-E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7886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0F860-0C4D-B328-8085-07611DB12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8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402E66A-DF1E-FC18-C858-C504A2657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9825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9E647-46D7-C2E8-C929-5EC4EB39F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9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32171F-EB8A-EB02-64D6-629F8265B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946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6088B-64D1-9B06-59B9-309BEAA1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10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E8FC61E-2289-CAF8-1F65-060BD3DF5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5136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31256-D9CD-8CFA-9B92-431AD1C00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While</a:t>
            </a:r>
            <a:r>
              <a:rPr lang="es-ES" dirty="0"/>
              <a:t> anidado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12ECFC-F00C-C874-D9D2-025A349F0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Los bucles pueden anidarse, de tal manera que dentro del cuerpo de uno aparezcan nuevos bucles. No existe límite de anidamiento, aunque a fin de mantener un código sencillo de entender y de mantener se debe evitar anidamientos mayores de 2 niveles.</a:t>
            </a:r>
          </a:p>
          <a:p>
            <a:r>
              <a:rPr 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Ejemplo:</a:t>
            </a: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FFC29A0-6EA8-EC5E-369A-0BCA714DE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14600"/>
            <a:ext cx="2965704" cy="410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521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72EBF-5AC1-157B-23A2-A96707F4B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11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70FF6F-F300-7063-9C64-C76EE2FD1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76783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1B8E2-17F8-81D2-188B-8685BA87E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12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4A92C7-49CD-63E2-DFAE-204877737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32898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5D41A-202C-6E34-1447-666CAE417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sentencia </a:t>
            </a:r>
            <a:r>
              <a:rPr lang="es-ES" dirty="0" err="1"/>
              <a:t>for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B17859-5C64-827B-7954-40A8B18B4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Esta sentencia permite ejecutar un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nº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determinado de veces una o varias sentencias. </a:t>
            </a:r>
          </a:p>
          <a:p>
            <a:endParaRPr lang="es-ES" sz="18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58881D-169C-613E-C1F9-D7002362E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181" y="2142389"/>
            <a:ext cx="3154299" cy="38585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A897BFC-DF2F-DB67-1AC2-52806FD61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381" y="2719176"/>
            <a:ext cx="655320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23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D9A3B-3F8D-CC8D-C2C8-F1873BBD5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 y condiciones </a:t>
            </a:r>
            <a:r>
              <a:rPr lang="es-ES" dirty="0" err="1"/>
              <a:t>for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1D87ED-11E5-21C4-7C5C-CE1AB3A27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6328" y="2212848"/>
            <a:ext cx="3959352" cy="3656246"/>
          </a:xfrm>
        </p:spPr>
        <p:txBody>
          <a:bodyPr>
            <a:normAutofit fontScale="92500" lnSpcReduction="10000"/>
          </a:bodyPr>
          <a:lstStyle/>
          <a:p>
            <a:r>
              <a:rPr lang="es-ES" sz="1800" b="0" i="0" u="none" strike="noStrike" baseline="0" dirty="0">
                <a:latin typeface="Symbol" panose="05050102010706020507" pitchFamily="18" charset="2"/>
              </a:rPr>
              <a:t>· </a:t>
            </a:r>
            <a:r>
              <a:rPr lang="es-ES" sz="1800" dirty="0">
                <a:latin typeface="Arial" panose="020B0604020202020204" pitchFamily="34" charset="0"/>
              </a:rPr>
              <a:t>La inicialización del contador solo se efectúa una vez al principio. </a:t>
            </a:r>
          </a:p>
          <a:p>
            <a:r>
              <a:rPr lang="es-ES" sz="1800" b="0" i="0" u="none" strike="noStrike" baseline="0" dirty="0">
                <a:latin typeface="Symbol" panose="05050102010706020507" pitchFamily="18" charset="2"/>
              </a:rPr>
              <a:t>· 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Las variables definidas en la sentencia de inicialización son locales al bucle, dejando de existir una vez haya finalizado éste.</a:t>
            </a:r>
          </a:p>
          <a:p>
            <a:pPr algn="l"/>
            <a:r>
              <a:rPr lang="es-ES" sz="1800" b="0" i="0" u="none" strike="noStrike" baseline="0" dirty="0">
                <a:latin typeface="Symbol" panose="05050102010706020507" pitchFamily="18" charset="2"/>
              </a:rPr>
              <a:t>· 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El contador puede ser modificado tanto por la propia cabecera del </a:t>
            </a:r>
            <a:r>
              <a:rPr lang="es-ES" sz="1800" b="0" i="0" u="none" strike="noStrike" baseline="0" dirty="0" err="1">
                <a:latin typeface="Arial" panose="020B0604020202020204" pitchFamily="34" charset="0"/>
              </a:rPr>
              <a:t>for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, como por instrucciones dentro del bucle.</a:t>
            </a:r>
          </a:p>
          <a:p>
            <a:pPr algn="l"/>
            <a:r>
              <a:rPr lang="es-ES" sz="1800" b="0" i="0" u="none" strike="noStrike" baseline="0" dirty="0">
                <a:latin typeface="Symbol" panose="05050102010706020507" pitchFamily="18" charset="2"/>
              </a:rPr>
              <a:t>· 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Es imprescindible que se realice alguna acción que modifique la condición, en caso contrario estaríamos ante un bucle infinito.</a:t>
            </a:r>
            <a:endParaRPr lang="es-ES" dirty="0"/>
          </a:p>
        </p:txBody>
      </p:sp>
      <p:pic>
        <p:nvPicPr>
          <p:cNvPr id="4" name="Marcador de contenido 4">
            <a:extLst>
              <a:ext uri="{FF2B5EF4-FFF2-40B4-BE49-F238E27FC236}">
                <a16:creationId xmlns:a16="http://schemas.microsoft.com/office/drawing/2014/main" id="{600365BB-9ECD-1D3A-95FF-208349A2A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40" y="2297811"/>
            <a:ext cx="6369340" cy="312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03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50BD7-D3B6-89AA-F81D-362556EC2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B8A44F-8B5E-7AD1-962A-326ABABF4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240580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0A1332-DD99-0436-AEA8-0061CA608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14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8EE2E1-499E-FE75-ACBE-DA3C9FCC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25099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C7440-EBD8-F1F9-E25A-64FEBA144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15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C77B1D-F4C5-B2ED-6C93-1D7AD87AB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31067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FEA8C4-7315-3B1F-7B56-F61BA3C58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3527"/>
            <a:ext cx="10058400" cy="1450757"/>
          </a:xfrm>
        </p:spPr>
        <p:txBody>
          <a:bodyPr/>
          <a:lstStyle/>
          <a:p>
            <a:r>
              <a:rPr lang="es-ES" dirty="0"/>
              <a:t>Variaciones </a:t>
            </a:r>
            <a:r>
              <a:rPr lang="es-ES" dirty="0" err="1"/>
              <a:t>for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F52CDA3-B370-1843-208D-91D63C410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8800" y="1668441"/>
            <a:ext cx="4286832" cy="4866134"/>
          </a:xfrm>
        </p:spPr>
      </p:pic>
    </p:spTree>
    <p:extLst>
      <p:ext uri="{BB962C8B-B14F-4D97-AF65-F5344CB8AC3E}">
        <p14:creationId xmlns:p14="http://schemas.microsoft.com/office/powerpoint/2010/main" val="25909825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E3492-B37A-D376-9701-78D4970D3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Sentencia do…</a:t>
            </a:r>
            <a:r>
              <a:rPr lang="es-ES" dirty="0" err="1"/>
              <a:t>while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2EB9E9-2F69-41FE-7507-5DF1FEC52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El bucle do ...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while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es una variación del bucle </a:t>
            </a:r>
            <a:r>
              <a:rPr lang="es-E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while</a:t>
            </a:r>
            <a:r>
              <a:rPr lang="es-E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con la diferencia de que las sentencias del cuerpo del bucle se ejecutan al menos una vez. 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597008-D39D-DF44-59A2-07F6D257D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07" y="2700126"/>
            <a:ext cx="2686050" cy="23145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02B540A-BDC5-34A4-938E-80E6344C7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649" y="2700126"/>
            <a:ext cx="663892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1519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8B92A-4C42-99A2-EE0B-6E945F63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16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73B40-7C71-51E6-D602-129783EEB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21180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4C12A-BA74-368A-6581-18262CA60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17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1378C1-02D3-7810-9D25-B34D20AA1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676197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1A96D-741D-8FCD-4DD6-1CD46D35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Sentencias de ruptura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38CD4A-5BA6-3EE9-E7B8-8EC08AD3A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76" y="1845734"/>
            <a:ext cx="10661904" cy="4555066"/>
          </a:xfrm>
        </p:spPr>
        <p:txBody>
          <a:bodyPr>
            <a:normAutofit/>
          </a:bodyPr>
          <a:lstStyle/>
          <a:p>
            <a:pPr algn="l"/>
            <a:r>
              <a:rPr lang="es-ES" sz="1500" b="0" i="0" u="none" strike="noStrike" baseline="0" dirty="0">
                <a:latin typeface="Arial" panose="020B0604020202020204" pitchFamily="34" charset="0"/>
              </a:rPr>
              <a:t>Java incorpora ciertas sentencias o estructuras de salto, que </a:t>
            </a:r>
            <a:r>
              <a:rPr lang="es-ES" sz="1500" b="1" i="0" u="none" strike="noStrike" baseline="0" dirty="0">
                <a:latin typeface="Arial" panose="020B0604020202020204" pitchFamily="34" charset="0"/>
              </a:rPr>
              <a:t>es necesario conocer </a:t>
            </a:r>
            <a:r>
              <a:rPr lang="es-ES" sz="1500" b="0" i="0" u="none" strike="noStrike" baseline="0" dirty="0">
                <a:latin typeface="Arial" panose="020B0604020202020204" pitchFamily="34" charset="0"/>
              </a:rPr>
              <a:t>y que pueden sernos útiles en algunas partes de nuestros programas, sin embargo no conviene abusar de ellas, ya que provocan una mala estructuración del código, y un incremento en la dificultad para el mantenimiento de los mismos.</a:t>
            </a:r>
          </a:p>
          <a:p>
            <a:pPr algn="l"/>
            <a:endParaRPr lang="es-ES" sz="1800" dirty="0">
              <a:latin typeface="Arial" panose="020B0604020202020204" pitchFamily="34" charset="0"/>
            </a:endParaRPr>
          </a:p>
          <a:p>
            <a:pPr algn="l"/>
            <a:endParaRPr lang="es-ES" sz="1800" b="0" i="0" u="none" strike="noStrike" baseline="0" dirty="0">
              <a:latin typeface="Arial" panose="020B0604020202020204" pitchFamily="34" charset="0"/>
            </a:endParaRPr>
          </a:p>
          <a:p>
            <a:pPr algn="l"/>
            <a:endParaRPr lang="es-ES" sz="1800" dirty="0">
              <a:latin typeface="Arial" panose="020B0604020202020204" pitchFamily="34" charset="0"/>
            </a:endParaRPr>
          </a:p>
          <a:p>
            <a:pPr algn="l"/>
            <a:endParaRPr lang="es-ES" sz="1800" b="0" i="0" u="none" strike="noStrike" baseline="0" dirty="0">
              <a:latin typeface="Arial" panose="020B0604020202020204" pitchFamily="34" charset="0"/>
            </a:endParaRPr>
          </a:p>
          <a:p>
            <a:pPr algn="l"/>
            <a:endParaRPr lang="es-ES" sz="1800" dirty="0">
              <a:latin typeface="Arial" panose="020B0604020202020204" pitchFamily="34" charset="0"/>
            </a:endParaRPr>
          </a:p>
          <a:p>
            <a:pPr algn="l"/>
            <a:endParaRPr lang="es-ES" sz="1800" b="0" i="0" u="none" strike="noStrike" baseline="0" dirty="0"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es-ES" sz="1800" dirty="0"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s-ES" sz="1500" b="0" i="0" u="none" strike="noStrike" baseline="0" dirty="0">
                <a:latin typeface="Arial" panose="020B0604020202020204" pitchFamily="34" charset="0"/>
              </a:rPr>
              <a:t>Es decir, si colocamos un break dentro del código de un bucle, cuando se alcance, automáticamente se saldrá del bucle pasando a ejecutarse la siguiente instrucción inmediatamente después de él.</a:t>
            </a:r>
          </a:p>
          <a:p>
            <a:pPr algn="l"/>
            <a:endParaRPr lang="es-ES" sz="1800" dirty="0">
              <a:latin typeface="Arial" panose="020B0604020202020204" pitchFamily="34" charset="0"/>
            </a:endParaRPr>
          </a:p>
          <a:p>
            <a:pPr algn="l"/>
            <a:endParaRPr lang="es-ES" sz="1800" b="0" i="0" u="none" strike="noStrike" baseline="0" dirty="0">
              <a:latin typeface="Arial" panose="020B0604020202020204" pitchFamily="34" charset="0"/>
            </a:endParaRPr>
          </a:p>
          <a:p>
            <a:pPr algn="l"/>
            <a:endParaRPr lang="es-ES" sz="1800" dirty="0">
              <a:latin typeface="Arial" panose="020B0604020202020204" pitchFamily="34" charset="0"/>
            </a:endParaRPr>
          </a:p>
          <a:p>
            <a:pPr algn="l"/>
            <a:endParaRPr lang="es-ES" sz="1800" b="0" i="0" u="none" strike="noStrike" baseline="0" dirty="0">
              <a:latin typeface="Arial" panose="020B0604020202020204" pitchFamily="34" charset="0"/>
            </a:endParaRPr>
          </a:p>
          <a:p>
            <a:pPr algn="l"/>
            <a:endParaRPr lang="es-ES" sz="1800" dirty="0">
              <a:latin typeface="Arial" panose="020B0604020202020204" pitchFamily="34" charset="0"/>
            </a:endParaRPr>
          </a:p>
          <a:p>
            <a:pPr algn="l"/>
            <a:endParaRPr lang="es-ES" sz="1800" b="0" i="0" u="none" strike="noStrike" baseline="0" dirty="0">
              <a:latin typeface="Arial" panose="020B0604020202020204" pitchFamily="34" charset="0"/>
            </a:endParaRPr>
          </a:p>
          <a:p>
            <a:pPr algn="l"/>
            <a:endParaRPr lang="es-ES" sz="1800" dirty="0">
              <a:latin typeface="Arial" panose="020B0604020202020204" pitchFamily="34" charset="0"/>
            </a:endParaRPr>
          </a:p>
          <a:p>
            <a:pPr algn="l"/>
            <a:endParaRPr lang="es-ES" sz="1800" b="0" i="0" u="none" strike="noStrike" baseline="0" dirty="0">
              <a:latin typeface="Arial" panose="020B0604020202020204" pitchFamily="34" charset="0"/>
            </a:endParaRPr>
          </a:p>
          <a:p>
            <a:pPr algn="l"/>
            <a:endParaRPr lang="es-ES" sz="1800" b="0" i="0" u="none" strike="noStrike" baseline="0" dirty="0">
              <a:latin typeface="Arial" panose="020B0604020202020204" pitchFamily="34" charset="0"/>
            </a:endParaRPr>
          </a:p>
          <a:p>
            <a:pPr algn="l"/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1580905-54E7-F1EB-73A4-954D88049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94018"/>
            <a:ext cx="684847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8288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7E039-081A-FAC4-857A-D41EE4E3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Sentencia break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93DCE66-C783-0C0D-5091-773C4B1E94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0044" y="2023961"/>
            <a:ext cx="5992238" cy="3667328"/>
          </a:xfrm>
        </p:spPr>
      </p:pic>
    </p:spTree>
    <p:extLst>
      <p:ext uri="{BB962C8B-B14F-4D97-AF65-F5344CB8AC3E}">
        <p14:creationId xmlns:p14="http://schemas.microsoft.com/office/powerpoint/2010/main" val="31361963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B3823-141F-258D-E252-CCC87FE8A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Sentencia continue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C114D4F-F2D0-44B6-4A89-EDCB5429E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3662" y="1963865"/>
            <a:ext cx="7368857" cy="3777574"/>
          </a:xfrm>
        </p:spPr>
      </p:pic>
    </p:spTree>
    <p:extLst>
      <p:ext uri="{BB962C8B-B14F-4D97-AF65-F5344CB8AC3E}">
        <p14:creationId xmlns:p14="http://schemas.microsoft.com/office/powerpoint/2010/main" val="32677732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6DDE4-A6EB-056A-6FB1-0C01D6DD9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sentencia continue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5DE8E194-66ED-084B-8C1D-C70ED806E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s-ES" sz="1800" b="0" i="0" u="none" strike="noStrike" baseline="0" dirty="0">
                <a:latin typeface="Arial" panose="020B0604020202020204" pitchFamily="34" charset="0"/>
              </a:rPr>
              <a:t>Uso de la sentencia continue en un bucle </a:t>
            </a:r>
            <a:r>
              <a:rPr lang="es-ES" sz="1800" b="0" i="0" u="none" strike="noStrike" baseline="0" dirty="0" err="1">
                <a:latin typeface="Arial" panose="020B0604020202020204" pitchFamily="34" charset="0"/>
              </a:rPr>
              <a:t>for</a:t>
            </a:r>
            <a:r>
              <a:rPr lang="es-ES" sz="1800" b="0" i="0" u="none" strike="noStrike" baseline="0" dirty="0">
                <a:latin typeface="Arial" panose="020B0604020202020204" pitchFamily="34" charset="0"/>
              </a:rPr>
              <a:t>, para imprimir por pantalla sólo los números pares.</a:t>
            </a:r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4D31392-830D-5A6E-F733-CB9EDD534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132" y="2339865"/>
            <a:ext cx="7081736" cy="423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262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A5F78B-B6A3-7531-BEE9-D9541A172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Sentencia </a:t>
            </a:r>
            <a:r>
              <a:rPr lang="es-ES" dirty="0" err="1"/>
              <a:t>return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22AC48-59DA-F709-06E4-5DE89163B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s-ES" sz="1800" b="1" i="0" u="none" strike="noStrike" baseline="0" dirty="0">
                <a:latin typeface="Arial" panose="020B0604020202020204" pitchFamily="34" charset="0"/>
              </a:rPr>
              <a:t>Sentencia </a:t>
            </a:r>
            <a:r>
              <a:rPr lang="es-ES" sz="1800" b="1" i="0" u="none" strike="noStrike" baseline="0" dirty="0" err="1">
                <a:latin typeface="Arial" panose="020B0604020202020204" pitchFamily="34" charset="0"/>
              </a:rPr>
              <a:t>Return</a:t>
            </a:r>
            <a:endParaRPr lang="es-ES" sz="1800" b="1" i="0" u="none" strike="noStrike" baseline="0" dirty="0">
              <a:latin typeface="Arial" panose="020B0604020202020204" pitchFamily="34" charset="0"/>
            </a:endParaRPr>
          </a:p>
          <a:p>
            <a:pPr algn="l"/>
            <a:r>
              <a:rPr lang="es-ES" sz="1800" b="0" i="0" u="none" strike="noStrike" baseline="0" dirty="0">
                <a:latin typeface="Arial" panose="020B0604020202020204" pitchFamily="34" charset="0"/>
              </a:rPr>
              <a:t>Se utiliza para finalizar la ejecución de </a:t>
            </a:r>
            <a:r>
              <a:rPr lang="es-ES" sz="1800" b="0" i="0" u="none" strike="noStrike" baseline="0">
                <a:latin typeface="Arial" panose="020B0604020202020204" pitchFamily="34" charset="0"/>
              </a:rPr>
              <a:t>un método.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857759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5D5D6-ED01-7FCC-DAB8-DC25EADB3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Ejercicio 18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33747E-54B7-503B-11F0-D4C34464E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4213901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632</TotalTime>
  <Words>1195</Words>
  <Application>Microsoft Office PowerPoint</Application>
  <PresentationFormat>Panorámica</PresentationFormat>
  <Paragraphs>112</Paragraphs>
  <Slides>43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Symbol</vt:lpstr>
      <vt:lpstr>Wingdings</vt:lpstr>
      <vt:lpstr>Retrospección</vt:lpstr>
      <vt:lpstr>Aplicación de las estructuras de control</vt:lpstr>
      <vt:lpstr>Sentencias de control</vt:lpstr>
      <vt:lpstr>La sentencia condicional if</vt:lpstr>
      <vt:lpstr>Consideraciones sobre la sentencia if</vt:lpstr>
      <vt:lpstr>Ejemplo if</vt:lpstr>
      <vt:lpstr>Ejemplo if-else anidados</vt:lpstr>
      <vt:lpstr>Realizar Ejercicio 1 IF</vt:lpstr>
      <vt:lpstr>Estructura switch</vt:lpstr>
      <vt:lpstr>Consideraciones Switch</vt:lpstr>
      <vt:lpstr>Ejemplo Switch utilizando Strings</vt:lpstr>
      <vt:lpstr>Ejercicio 2</vt:lpstr>
      <vt:lpstr>Ejercicio 3</vt:lpstr>
      <vt:lpstr>Ejercicio 4</vt:lpstr>
      <vt:lpstr>Ejercicio 5 Switch – Lectura de teclado</vt:lpstr>
      <vt:lpstr>Estructuras repetitivas o de interacción</vt:lpstr>
      <vt:lpstr>La sentencia while</vt:lpstr>
      <vt:lpstr>Ejemplos</vt:lpstr>
      <vt:lpstr>Ejemplos(II)</vt:lpstr>
      <vt:lpstr>Variables utilizadas en ejemplos</vt:lpstr>
      <vt:lpstr>Variable conmutador</vt:lpstr>
      <vt:lpstr>Ejercicio 6</vt:lpstr>
      <vt:lpstr>Ejercicio 7</vt:lpstr>
      <vt:lpstr>Ejercicio 8</vt:lpstr>
      <vt:lpstr>Ejercicio 9</vt:lpstr>
      <vt:lpstr>Ejercicio 10</vt:lpstr>
      <vt:lpstr>While anidado</vt:lpstr>
      <vt:lpstr>Ejercicio 11</vt:lpstr>
      <vt:lpstr>Ejercicio 12</vt:lpstr>
      <vt:lpstr>La sentencia for</vt:lpstr>
      <vt:lpstr>Ejemplos y condiciones for</vt:lpstr>
      <vt:lpstr>Ejercicio 13</vt:lpstr>
      <vt:lpstr>Ejercicio 14</vt:lpstr>
      <vt:lpstr>Ejercicio 15</vt:lpstr>
      <vt:lpstr>Variaciones for</vt:lpstr>
      <vt:lpstr>Sentencia do…while</vt:lpstr>
      <vt:lpstr>Ejercicio 16</vt:lpstr>
      <vt:lpstr>Ejercicio 17</vt:lpstr>
      <vt:lpstr>Sentencias de ruptura</vt:lpstr>
      <vt:lpstr>Ejemplo Sentencia break</vt:lpstr>
      <vt:lpstr>Sentencia continue</vt:lpstr>
      <vt:lpstr>Ejemplo sentencia continue</vt:lpstr>
      <vt:lpstr>Sentencia return</vt:lpstr>
      <vt:lpstr>Ejercicio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Estructura y bloques fundamentales</dc:title>
  <dc:creator>David Prado</dc:creator>
  <cp:lastModifiedBy>David Prado</cp:lastModifiedBy>
  <cp:revision>273</cp:revision>
  <dcterms:created xsi:type="dcterms:W3CDTF">2022-09-04T14:19:54Z</dcterms:created>
  <dcterms:modified xsi:type="dcterms:W3CDTF">2025-09-08T08:29:44Z</dcterms:modified>
</cp:coreProperties>
</file>